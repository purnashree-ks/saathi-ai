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816592"/>
            <a:ext cx="8137002" cy="5662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109855"/>
            <a:ext cx="11424919" cy="999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2542" y="1899919"/>
            <a:ext cx="9106915" cy="3740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5596" y="1353619"/>
            <a:ext cx="10836910" cy="40500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Saathi</a:t>
            </a:r>
            <a:r>
              <a:rPr dirty="0" sz="2200" spc="5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4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4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4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secure,</a:t>
            </a:r>
            <a:r>
              <a:rPr dirty="0" sz="2200" spc="509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Times New Roman"/>
                <a:cs typeface="Times New Roman"/>
              </a:rPr>
              <a:t>full-</a:t>
            </a:r>
            <a:r>
              <a:rPr dirty="0" sz="2200">
                <a:latin typeface="Times New Roman"/>
                <a:cs typeface="Times New Roman"/>
              </a:rPr>
              <a:t>stack,</a:t>
            </a:r>
            <a:r>
              <a:rPr dirty="0" sz="2200" spc="5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customizable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chatbot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that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enhances</a:t>
            </a:r>
            <a:r>
              <a:rPr dirty="0" sz="2200" spc="5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human–AI</a:t>
            </a:r>
            <a:r>
              <a:rPr dirty="0" sz="2200" spc="4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interaction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5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intelligent,</a:t>
            </a:r>
            <a:r>
              <a:rPr dirty="0" sz="2200" spc="50">
                <a:latin typeface="Times New Roman"/>
                <a:cs typeface="Times New Roman"/>
              </a:rPr>
              <a:t>  </a:t>
            </a:r>
            <a:r>
              <a:rPr dirty="0" sz="2200" spc="-40">
                <a:latin typeface="Times New Roman"/>
                <a:cs typeface="Times New Roman"/>
              </a:rPr>
              <a:t>context-</a:t>
            </a:r>
            <a:r>
              <a:rPr dirty="0" sz="2200">
                <a:latin typeface="Times New Roman"/>
                <a:cs typeface="Times New Roman"/>
              </a:rPr>
              <a:t>aware</a:t>
            </a:r>
            <a:r>
              <a:rPr dirty="0" sz="2200" spc="5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conversations.</a:t>
            </a:r>
            <a:r>
              <a:rPr dirty="0" sz="2200" spc="5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Built</a:t>
            </a:r>
            <a:r>
              <a:rPr dirty="0" sz="2200" spc="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3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Gemini</a:t>
            </a:r>
            <a:r>
              <a:rPr dirty="0" sz="2200" spc="5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APIs</a:t>
            </a:r>
            <a:r>
              <a:rPr dirty="0" sz="2200" spc="5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under</a:t>
            </a:r>
            <a:r>
              <a:rPr dirty="0" sz="2200" spc="5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40">
                <a:latin typeface="Times New Roman"/>
                <a:cs typeface="Times New Roman"/>
              </a:rPr>
              <a:t>  </a:t>
            </a:r>
            <a:r>
              <a:rPr dirty="0" sz="2200" spc="-25">
                <a:latin typeface="Times New Roman"/>
                <a:cs typeface="Times New Roman"/>
              </a:rPr>
              <a:t>MCP </a:t>
            </a:r>
            <a:r>
              <a:rPr dirty="0" sz="2200">
                <a:latin typeface="Times New Roman"/>
                <a:cs typeface="Times New Roman"/>
              </a:rPr>
              <a:t>architecture,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integrates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three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—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Sentiment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Analyzer,</a:t>
            </a:r>
            <a:r>
              <a:rPr dirty="0" sz="2200" spc="2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Q/A</a:t>
            </a:r>
            <a:r>
              <a:rPr dirty="0" sz="2200" spc="2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Model,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Summarizer</a:t>
            </a:r>
            <a:endParaRPr sz="2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50100"/>
              </a:lnSpc>
            </a:pPr>
            <a:r>
              <a:rPr dirty="0" sz="2200">
                <a:latin typeface="Times New Roman"/>
                <a:cs typeface="Times New Roman"/>
              </a:rPr>
              <a:t>—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accurate,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dynamic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responses.</a:t>
            </a:r>
            <a:r>
              <a:rPr dirty="0" sz="2200" spc="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platform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supports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multilingual</a:t>
            </a:r>
            <a:r>
              <a:rPr dirty="0" sz="2200" spc="1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text,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voice,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visual </a:t>
            </a:r>
            <a:r>
              <a:rPr dirty="0" sz="2200">
                <a:latin typeface="Times New Roman"/>
                <a:cs typeface="Times New Roman"/>
              </a:rPr>
              <a:t>inputs,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offering</a:t>
            </a:r>
            <a:r>
              <a:rPr dirty="0" sz="2200" spc="1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Visual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Query,</a:t>
            </a:r>
            <a:r>
              <a:rPr dirty="0" sz="2200" spc="2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dark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mode,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secure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sharing,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</a:t>
            </a:r>
            <a:r>
              <a:rPr dirty="0" sz="2200" spc="229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history,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admin</a:t>
            </a:r>
            <a:r>
              <a:rPr dirty="0" sz="2200" spc="2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monitoring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2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activity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feedback.</a:t>
            </a:r>
            <a:r>
              <a:rPr dirty="0" sz="2200" spc="2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features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like</a:t>
            </a:r>
            <a:r>
              <a:rPr dirty="0" sz="2200" spc="2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proactive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suggestions,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 spc="-40">
                <a:latin typeface="Times New Roman"/>
                <a:cs typeface="Times New Roman"/>
              </a:rPr>
              <a:t>multi-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2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chaining,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65">
                <a:latin typeface="Times New Roman"/>
                <a:cs typeface="Times New Roman"/>
              </a:rPr>
              <a:t> </a:t>
            </a:r>
            <a:r>
              <a:rPr dirty="0" sz="2200" spc="-45">
                <a:latin typeface="Times New Roman"/>
                <a:cs typeface="Times New Roman"/>
              </a:rPr>
              <a:t>clarification-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4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responses,</a:t>
            </a:r>
            <a:r>
              <a:rPr dirty="0" sz="2200" spc="23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Saathi</a:t>
            </a:r>
            <a:r>
              <a:rPr dirty="0" sz="2200" spc="5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2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ensures</a:t>
            </a:r>
            <a:r>
              <a:rPr dirty="0" sz="2200" spc="204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2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secure,</a:t>
            </a:r>
            <a:r>
              <a:rPr dirty="0" sz="2200" spc="204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adaptive,</a:t>
            </a:r>
            <a:r>
              <a:rPr dirty="0" sz="2200" spc="4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00">
                <a:latin typeface="Times New Roman"/>
                <a:cs typeface="Times New Roman"/>
              </a:rPr>
              <a:t>  </a:t>
            </a:r>
            <a:r>
              <a:rPr dirty="0" sz="2200" spc="-110">
                <a:latin typeface="Times New Roman"/>
                <a:cs typeface="Times New Roman"/>
              </a:rPr>
              <a:t>user-</a:t>
            </a:r>
            <a:r>
              <a:rPr dirty="0" sz="2200" spc="-10">
                <a:latin typeface="Times New Roman"/>
                <a:cs typeface="Times New Roman"/>
              </a:rPr>
              <a:t>friendly </a:t>
            </a:r>
            <a:r>
              <a:rPr dirty="0" sz="2200">
                <a:latin typeface="Times New Roman"/>
                <a:cs typeface="Times New Roman"/>
              </a:rPr>
              <a:t>conversational</a:t>
            </a:r>
            <a:r>
              <a:rPr dirty="0" sz="2200" spc="-1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experience.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2859" rIns="0" bIns="0" rtlCol="0" vert="horz">
            <a:spAutoFit/>
          </a:bodyPr>
          <a:lstStyle/>
          <a:p>
            <a:pPr marL="4354195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ABSTRACT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404" y="1439113"/>
            <a:ext cx="10546080" cy="371665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1469390" algn="l"/>
                <a:tab pos="1957070" algn="l"/>
                <a:tab pos="3329304" algn="l"/>
                <a:tab pos="4829175" algn="l"/>
                <a:tab pos="6890384" algn="l"/>
                <a:tab pos="7972425" algn="l"/>
                <a:tab pos="9097645" algn="l"/>
                <a:tab pos="9710420" algn="l"/>
              </a:tabLst>
            </a:pPr>
            <a:r>
              <a:rPr dirty="0" sz="2200" spc="-10">
                <a:latin typeface="Times New Roman"/>
                <a:cs typeface="Times New Roman"/>
              </a:rPr>
              <a:t>Focuses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on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improving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human–AI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communication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through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emotion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context</a:t>
            </a:r>
            <a:endParaRPr sz="2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understanding.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Developed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make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 </a:t>
            </a:r>
            <a:r>
              <a:rPr dirty="0" sz="2200" b="1">
                <a:latin typeface="Times New Roman"/>
                <a:cs typeface="Times New Roman"/>
              </a:rPr>
              <a:t>more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human-</a:t>
            </a:r>
            <a:r>
              <a:rPr dirty="0" sz="2200" b="1">
                <a:latin typeface="Times New Roman"/>
                <a:cs typeface="Times New Roman"/>
              </a:rPr>
              <a:t>like,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secure,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adaptive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conversations.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Prioritizes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user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privacy,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personalization,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accessibility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every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interaction.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Supports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multiple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input modes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—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voice,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 visuals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—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seamless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engagement.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  <a:tab pos="1127760" algn="l"/>
                <a:tab pos="1515110" algn="l"/>
                <a:tab pos="2893060" algn="l"/>
                <a:tab pos="3365500" algn="l"/>
                <a:tab pos="4124960" algn="l"/>
                <a:tab pos="4432935" algn="l"/>
                <a:tab pos="5048885" algn="l"/>
                <a:tab pos="5451475" algn="l"/>
                <a:tab pos="5756275" algn="l"/>
                <a:tab pos="7313930" algn="l"/>
                <a:tab pos="8378190" algn="l"/>
                <a:tab pos="9820275" algn="l"/>
              </a:tabLst>
            </a:pPr>
            <a:r>
              <a:rPr dirty="0" sz="2200" spc="-20">
                <a:latin typeface="Times New Roman"/>
                <a:cs typeface="Times New Roman"/>
              </a:rPr>
              <a:t>Aims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to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transform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5" b="1">
                <a:latin typeface="Times New Roman"/>
                <a:cs typeface="Times New Roman"/>
              </a:rPr>
              <a:t>AI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0" b="1">
                <a:latin typeface="Times New Roman"/>
                <a:cs typeface="Times New Roman"/>
              </a:rPr>
              <a:t>from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50" b="1">
                <a:latin typeface="Times New Roman"/>
                <a:cs typeface="Times New Roman"/>
              </a:rPr>
              <a:t>a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0" b="1">
                <a:latin typeface="Times New Roman"/>
                <a:cs typeface="Times New Roman"/>
              </a:rPr>
              <a:t>tool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5" b="1">
                <a:latin typeface="Times New Roman"/>
                <a:cs typeface="Times New Roman"/>
              </a:rPr>
              <a:t>to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50" b="1">
                <a:latin typeface="Times New Roman"/>
                <a:cs typeface="Times New Roman"/>
              </a:rPr>
              <a:t>a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companion</a:t>
            </a:r>
            <a:r>
              <a:rPr dirty="0" sz="2200" spc="-10">
                <a:latin typeface="Times New Roman"/>
                <a:cs typeface="Times New Roman"/>
              </a:rPr>
              <a:t>,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creating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meaningful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digital</a:t>
            </a:r>
            <a:endParaRPr sz="2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interactions.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1951355" algn="l"/>
                <a:tab pos="3079115" algn="l"/>
                <a:tab pos="3566795" algn="l"/>
                <a:tab pos="4490720" algn="l"/>
                <a:tab pos="5186045" algn="l"/>
                <a:tab pos="6618605" algn="l"/>
                <a:tab pos="7762240" algn="l"/>
                <a:tab pos="8283575" algn="l"/>
                <a:tab pos="9563735" algn="l"/>
              </a:tabLst>
            </a:pPr>
            <a:r>
              <a:rPr dirty="0" sz="2200" spc="-10">
                <a:latin typeface="Times New Roman"/>
                <a:cs typeface="Times New Roman"/>
              </a:rPr>
              <a:t>Incorporates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modular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AI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design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with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specialized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modules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for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sentiment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analysis,</a:t>
            </a:r>
            <a:endParaRPr sz="2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summarization,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Q/A.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Includes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admin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monitoring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feedback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better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security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performance</a:t>
            </a:r>
            <a:endParaRPr sz="22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insights.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2859" rIns="0" bIns="0" rtlCol="0" vert="horz">
            <a:spAutoFit/>
          </a:bodyPr>
          <a:lstStyle/>
          <a:p>
            <a:pPr marL="3743960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INTRODUCTION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90626" y="865250"/>
          <a:ext cx="10644505" cy="5429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890"/>
                <a:gridCol w="2113915"/>
                <a:gridCol w="1261745"/>
                <a:gridCol w="2966084"/>
                <a:gridCol w="3572509"/>
              </a:tblGrid>
              <a:tr h="61277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Sl.No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Title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Authors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Results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Drawbacks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7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marR="39687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dirty="0" sz="20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Model Switching</a:t>
                      </a:r>
                      <a:r>
                        <a:rPr dirty="0" sz="20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Decentralized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dirty="0" sz="20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Systems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683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Pearl</a:t>
                      </a:r>
                      <a:r>
                        <a:rPr dirty="0" sz="20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Bipin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6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Pulickal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1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269875">
                        <a:lnSpc>
                          <a:spcPct val="100000"/>
                        </a:lnSpc>
                        <a:spcBef>
                          <a:spcPts val="1989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0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hierarchical</a:t>
                      </a:r>
                      <a:r>
                        <a:rPr dirty="0" sz="200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Al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dirty="0" sz="200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20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combining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2000" spc="-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decentralized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models.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27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678180">
                        <a:lnSpc>
                          <a:spcPct val="100000"/>
                        </a:lnSpc>
                        <a:spcBef>
                          <a:spcPts val="1989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Entirely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theoretical,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experiments.No</a:t>
                      </a:r>
                      <a:r>
                        <a:rPr dirty="0" sz="2000" spc="-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quantitative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benchmarks.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27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0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3655" marR="348615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Hugging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GPT: Solving</a:t>
                      </a:r>
                      <a:r>
                        <a:rPr dirty="0" sz="2000" spc="-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dirty="0" sz="2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Tasks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ChatGPT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35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Yongliang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6830" marR="262890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Shen, Kaitao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Song,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Xu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Tan.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67437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ChatGPT</a:t>
                      </a:r>
                      <a:r>
                        <a:rPr dirty="0" sz="20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acts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controller</a:t>
                      </a:r>
                      <a:r>
                        <a:rPr dirty="0" sz="20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linking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expert</a:t>
                      </a:r>
                      <a:r>
                        <a:rPr dirty="0" sz="2000" spc="-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Hugging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Face.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20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20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sequential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20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execution.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R="6223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marR="7556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ReAct: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Synergizing Reasoning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Acting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0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Language Models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marR="455295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Shunyu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Yao,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Jeffrey.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7465" marR="318135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dirty="0" sz="20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reasoning</a:t>
                      </a:r>
                      <a:r>
                        <a:rPr dirty="0" sz="2000" spc="3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acting</a:t>
                      </a:r>
                      <a:r>
                        <a:rPr dirty="0" sz="2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LLMs</a:t>
                      </a:r>
                      <a:r>
                        <a:rPr dirty="0" sz="2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0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better 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decision-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making.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8100" marR="861060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dirty="0" sz="20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20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20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few-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shot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prompting;</a:t>
                      </a:r>
                      <a:r>
                        <a:rPr dirty="0" sz="2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20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end-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to-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end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training.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9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0373" y="139395"/>
            <a:ext cx="444246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 spc="-25"/>
              <a:t>LITERATURE</a:t>
            </a:r>
            <a:r>
              <a:rPr dirty="0" u="none" sz="3200" spc="-145"/>
              <a:t> </a:t>
            </a:r>
            <a:r>
              <a:rPr dirty="0" u="none" sz="3200" spc="-10"/>
              <a:t>SURVEY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74650" y="679450"/>
          <a:ext cx="10946130" cy="4959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/>
                <a:gridCol w="2078355"/>
                <a:gridCol w="1503045"/>
                <a:gridCol w="2273300"/>
                <a:gridCol w="4469130"/>
              </a:tblGrid>
              <a:tr h="274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7620">
                        <a:lnSpc>
                          <a:spcPct val="100000"/>
                        </a:lnSpc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785" marR="4565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Gorilla: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Large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Connected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Massive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APIs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49466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Shishir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G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Patil, Tianjun Zhang,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Joseph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E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Gonzalez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3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197485">
                        <a:lnSpc>
                          <a:spcPts val="2400"/>
                        </a:lnSpc>
                        <a:spcBef>
                          <a:spcPts val="1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retrieval-augmented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LLM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connects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 marR="495300">
                        <a:lnSpc>
                          <a:spcPts val="240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thousand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thousands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ML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APIs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better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ts val="2320"/>
                        </a:lnSpc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grounding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reduced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ts val="2370"/>
                        </a:lnSpc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hallucination.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427990">
                        <a:lnSpc>
                          <a:spcPts val="2400"/>
                        </a:lnSpc>
                        <a:spcBef>
                          <a:spcPts val="1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Depends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retriever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quality,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APIs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,lacks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runtime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adaptation.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6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7620">
                        <a:lnSpc>
                          <a:spcPct val="100000"/>
                        </a:lnSpc>
                      </a:pP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Designing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Context-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dirty="0" sz="20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Interaction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Problem-Solving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A.Gupta,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M.Verma,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S.Iyer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413384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context-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NLP,ML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sentiment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analysis for</a:t>
                      </a:r>
                      <a:r>
                        <a:rPr dirty="0" sz="20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better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success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satisfaction.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labelled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high cost,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weak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long-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dirty="0" sz="20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memory.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9609" y="477977"/>
            <a:ext cx="270510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DRAWBACKS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1374394" y="1107577"/>
            <a:ext cx="9220835" cy="5057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200" b="1">
                <a:latin typeface="Times New Roman"/>
                <a:cs typeface="Times New Roman"/>
              </a:rPr>
              <a:t>Dynamic</a:t>
            </a:r>
            <a:r>
              <a:rPr dirty="0" sz="2200" spc="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Switching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proposed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entirely</a:t>
            </a:r>
            <a:r>
              <a:rPr dirty="0" sz="2200" spc="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theoretical,</a:t>
            </a:r>
            <a:r>
              <a:rPr dirty="0" sz="2200" spc="8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with </a:t>
            </a:r>
            <a:r>
              <a:rPr dirty="0" sz="2200">
                <a:latin typeface="Times New Roman"/>
                <a:cs typeface="Times New Roman"/>
              </a:rPr>
              <a:t>no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practical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implementation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experimental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results.</a:t>
            </a:r>
            <a:endParaRPr sz="22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50100"/>
              </a:lnSpc>
              <a:buFont typeface="Arial MT"/>
              <a:buChar char="•"/>
              <a:tabLst>
                <a:tab pos="356870" algn="l"/>
                <a:tab pos="2189480" algn="l"/>
                <a:tab pos="3149600" algn="l"/>
                <a:tab pos="3838575" algn="l"/>
                <a:tab pos="4488180" algn="l"/>
                <a:tab pos="5451475" algn="l"/>
                <a:tab pos="6795770" algn="l"/>
                <a:tab pos="7829550" algn="l"/>
                <a:tab pos="8137525" algn="l"/>
                <a:tab pos="883221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HuggingGPT</a:t>
            </a:r>
            <a:r>
              <a:rPr dirty="0" sz="2200" spc="-10">
                <a:latin typeface="Times New Roman"/>
                <a:cs typeface="Times New Roman"/>
              </a:rPr>
              <a:t>: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Suffers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from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high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latency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(slowness)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because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it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must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run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expert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sequentially.</a:t>
            </a:r>
            <a:endParaRPr sz="22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960"/>
              </a:lnSpc>
              <a:spcBef>
                <a:spcPts val="35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200" b="1">
                <a:latin typeface="Times New Roman"/>
                <a:cs typeface="Times New Roman"/>
              </a:rPr>
              <a:t>ReAct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limited</a:t>
            </a:r>
            <a:r>
              <a:rPr dirty="0" sz="2200" spc="1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working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"few-</a:t>
            </a:r>
            <a:r>
              <a:rPr dirty="0" sz="2200">
                <a:latin typeface="Times New Roman"/>
                <a:cs typeface="Times New Roman"/>
              </a:rPr>
              <a:t>shot"</a:t>
            </a:r>
            <a:r>
              <a:rPr dirty="0" sz="2200" spc="1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prompts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lacks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true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end-</a:t>
            </a:r>
            <a:r>
              <a:rPr dirty="0" sz="2200" spc="-25">
                <a:latin typeface="Times New Roman"/>
                <a:cs typeface="Times New Roman"/>
              </a:rPr>
              <a:t>to- </a:t>
            </a:r>
            <a:r>
              <a:rPr dirty="0" sz="2200">
                <a:latin typeface="Times New Roman"/>
                <a:cs typeface="Times New Roman"/>
              </a:rPr>
              <a:t>end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training.</a:t>
            </a:r>
            <a:endParaRPr sz="2200">
              <a:latin typeface="Times New Roman"/>
              <a:cs typeface="Times New Roman"/>
            </a:endParaRPr>
          </a:p>
          <a:p>
            <a:pPr marL="356870" marR="5715" indent="-344805">
              <a:lnSpc>
                <a:spcPts val="396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200" b="1">
                <a:latin typeface="Times New Roman"/>
                <a:cs typeface="Times New Roman"/>
              </a:rPr>
              <a:t>Gorilla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It's</a:t>
            </a:r>
            <a:r>
              <a:rPr dirty="0" sz="2200" spc="3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limited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only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ML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APIs</a:t>
            </a:r>
            <a:r>
              <a:rPr dirty="0" sz="2200" spc="3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lacks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ability</a:t>
            </a:r>
            <a:r>
              <a:rPr dirty="0" sz="2200" spc="25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adapt</a:t>
            </a:r>
            <a:r>
              <a:rPr dirty="0" sz="2200" spc="2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real- time.</a:t>
            </a:r>
            <a:endParaRPr sz="22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96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200" b="1">
                <a:latin typeface="Times New Roman"/>
                <a:cs typeface="Times New Roman"/>
              </a:rPr>
              <a:t>Designing</a:t>
            </a:r>
            <a:r>
              <a:rPr dirty="0" sz="2200" spc="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Context-</a:t>
            </a:r>
            <a:r>
              <a:rPr dirty="0" sz="2200" b="1">
                <a:latin typeface="Times New Roman"/>
                <a:cs typeface="Times New Roman"/>
              </a:rPr>
              <a:t>Aware</a:t>
            </a:r>
            <a:r>
              <a:rPr dirty="0" sz="2200" spc="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Chatbot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requires</a:t>
            </a:r>
            <a:r>
              <a:rPr dirty="0" sz="2200" spc="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large,</a:t>
            </a:r>
            <a:r>
              <a:rPr dirty="0" sz="2200" spc="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expensive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datasets</a:t>
            </a:r>
            <a:r>
              <a:rPr dirty="0" sz="2200" spc="5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weak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long-</a:t>
            </a:r>
            <a:r>
              <a:rPr dirty="0" sz="2200">
                <a:latin typeface="Times New Roman"/>
                <a:cs typeface="Times New Roman"/>
              </a:rPr>
              <a:t>term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memory.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2510" y="1819858"/>
            <a:ext cx="10301605" cy="31235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54100"/>
              </a:lnSpc>
              <a:spcBef>
                <a:spcPts val="85"/>
              </a:spcBef>
            </a:pPr>
            <a:r>
              <a:rPr dirty="0" sz="2200">
                <a:latin typeface="Times New Roman"/>
                <a:cs typeface="Times New Roman"/>
              </a:rPr>
              <a:t>Users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interact</a:t>
            </a:r>
            <a:r>
              <a:rPr dirty="0" sz="2200" spc="3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chatbots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varied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 spc="-35">
                <a:latin typeface="Times New Roman"/>
                <a:cs typeface="Times New Roman"/>
              </a:rPr>
              <a:t>purposes—</a:t>
            </a:r>
            <a:r>
              <a:rPr dirty="0" sz="2200">
                <a:latin typeface="Times New Roman"/>
                <a:cs typeface="Times New Roman"/>
              </a:rPr>
              <a:t>expressing</a:t>
            </a:r>
            <a:r>
              <a:rPr dirty="0" sz="2200" spc="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emotions,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asking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factual </a:t>
            </a:r>
            <a:r>
              <a:rPr dirty="0" sz="2200">
                <a:latin typeface="Times New Roman"/>
                <a:cs typeface="Times New Roman"/>
              </a:rPr>
              <a:t>questions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1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sharing</a:t>
            </a:r>
            <a:r>
              <a:rPr dirty="0" sz="2200" spc="1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long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text.</a:t>
            </a:r>
            <a:r>
              <a:rPr dirty="0" sz="2200" spc="114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9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single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static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1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struggles</a:t>
            </a:r>
            <a:r>
              <a:rPr dirty="0" sz="2200" spc="1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handle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10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these </a:t>
            </a:r>
            <a:r>
              <a:rPr dirty="0" sz="2200">
                <a:latin typeface="Times New Roman"/>
                <a:cs typeface="Times New Roman"/>
              </a:rPr>
              <a:t>effectively.</a:t>
            </a:r>
            <a:r>
              <a:rPr dirty="0" sz="2200" spc="3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This</a:t>
            </a:r>
            <a:r>
              <a:rPr dirty="0" sz="2200" spc="3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project</a:t>
            </a:r>
            <a:r>
              <a:rPr dirty="0" sz="2200" spc="3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addresses</a:t>
            </a:r>
            <a:r>
              <a:rPr dirty="0" sz="2200" spc="3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3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need</a:t>
            </a:r>
            <a:r>
              <a:rPr dirty="0" sz="2200" spc="3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3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3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centralized,</a:t>
            </a:r>
            <a:r>
              <a:rPr dirty="0" sz="2200" spc="36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intelligent</a:t>
            </a:r>
            <a:r>
              <a:rPr dirty="0" sz="2200" spc="36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chatbot</a:t>
            </a:r>
            <a:r>
              <a:rPr dirty="0" sz="2200" spc="360">
                <a:latin typeface="Times New Roman"/>
                <a:cs typeface="Times New Roman"/>
              </a:rPr>
              <a:t>  </a:t>
            </a:r>
            <a:r>
              <a:rPr dirty="0" sz="2200" spc="-20">
                <a:latin typeface="Times New Roman"/>
                <a:cs typeface="Times New Roman"/>
              </a:rPr>
              <a:t>that </a:t>
            </a:r>
            <a:r>
              <a:rPr dirty="0" sz="2200">
                <a:latin typeface="Times New Roman"/>
                <a:cs typeface="Times New Roman"/>
              </a:rPr>
              <a:t>automatically</a:t>
            </a:r>
            <a:r>
              <a:rPr dirty="0" sz="2200" spc="3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identifies</a:t>
            </a:r>
            <a:r>
              <a:rPr dirty="0" sz="2200" spc="204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2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user’s</a:t>
            </a:r>
            <a:r>
              <a:rPr dirty="0" sz="2200" spc="3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intent</a:t>
            </a:r>
            <a:r>
              <a:rPr dirty="0" sz="2200" spc="2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dynamically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switches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sentiment </a:t>
            </a:r>
            <a:r>
              <a:rPr dirty="0" sz="2200">
                <a:latin typeface="Times New Roman"/>
                <a:cs typeface="Times New Roman"/>
              </a:rPr>
              <a:t>analysis,</a:t>
            </a:r>
            <a:r>
              <a:rPr dirty="0" sz="2200" spc="4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Q&amp;A,</a:t>
            </a:r>
            <a:r>
              <a:rPr dirty="0" sz="2200" spc="43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3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summarization</a:t>
            </a:r>
            <a:r>
              <a:rPr dirty="0" sz="2200" spc="4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models</a:t>
            </a:r>
            <a:r>
              <a:rPr dirty="0" sz="2200" spc="43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4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MCP,</a:t>
            </a:r>
            <a:r>
              <a:rPr dirty="0" sz="2200" spc="4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ensuring</a:t>
            </a:r>
            <a:r>
              <a:rPr dirty="0" sz="2200" spc="409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</a:t>
            </a:r>
            <a:r>
              <a:rPr dirty="0" sz="2200" spc="4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relevant responses.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4828" y="1164158"/>
            <a:ext cx="473202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/>
              <a:t>PROBLEM</a:t>
            </a:r>
            <a:r>
              <a:rPr dirty="0" u="none" sz="3200" spc="-140"/>
              <a:t> </a:t>
            </a:r>
            <a:r>
              <a:rPr dirty="0" u="none" sz="3200" spc="-10"/>
              <a:t>STATEMENT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6122" y="893328"/>
            <a:ext cx="10211435" cy="5560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develop</a:t>
            </a:r>
            <a:r>
              <a:rPr dirty="0" sz="2200" spc="1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1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intelligent,</a:t>
            </a:r>
            <a:r>
              <a:rPr dirty="0" sz="2200" spc="1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context-</a:t>
            </a:r>
            <a:r>
              <a:rPr dirty="0" sz="2200">
                <a:latin typeface="Times New Roman"/>
                <a:cs typeface="Times New Roman"/>
              </a:rPr>
              <a:t>aware</a:t>
            </a:r>
            <a:r>
              <a:rPr dirty="0" sz="2200" spc="2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chatbot</a:t>
            </a:r>
            <a:r>
              <a:rPr dirty="0" sz="2200" spc="20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capable</a:t>
            </a:r>
            <a:r>
              <a:rPr dirty="0" sz="2200" spc="1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2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understanding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responding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multimodal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inputs</a:t>
            </a:r>
            <a:r>
              <a:rPr dirty="0" sz="2200" spc="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including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text,</a:t>
            </a:r>
            <a:r>
              <a:rPr dirty="0" sz="2200" spc="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voice,</a:t>
            </a:r>
            <a:r>
              <a:rPr dirty="0" sz="2200" spc="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8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other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documents.</a:t>
            </a:r>
            <a:endParaRPr sz="22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4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integrate</a:t>
            </a:r>
            <a:r>
              <a:rPr dirty="0" sz="2200" spc="4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modular</a:t>
            </a:r>
            <a:r>
              <a:rPr dirty="0" sz="2200" spc="4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3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components</a:t>
            </a:r>
            <a:r>
              <a:rPr dirty="0" sz="2200" spc="3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such</a:t>
            </a:r>
            <a:r>
              <a:rPr dirty="0" sz="2200" spc="4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409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Sentiment</a:t>
            </a:r>
            <a:r>
              <a:rPr dirty="0" sz="2200" spc="4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Analyzer,</a:t>
            </a:r>
            <a:r>
              <a:rPr dirty="0" sz="2200" spc="4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Q/A</a:t>
            </a:r>
            <a:r>
              <a:rPr dirty="0" sz="2200" spc="4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Model,</a:t>
            </a:r>
            <a:r>
              <a:rPr dirty="0" sz="2200" spc="41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Summarizer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under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unified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MCP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architecture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dynamic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responses.</a:t>
            </a:r>
            <a:endParaRPr sz="22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7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implement</a:t>
            </a:r>
            <a:r>
              <a:rPr dirty="0" sz="2200" spc="1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secure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9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10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authentication</a:t>
            </a:r>
            <a:r>
              <a:rPr dirty="0" sz="2200" spc="9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80">
                <a:latin typeface="Times New Roman"/>
                <a:cs typeface="Times New Roman"/>
              </a:rPr>
              <a:t>  </a:t>
            </a:r>
            <a:r>
              <a:rPr dirty="0" sz="2200" spc="-20">
                <a:latin typeface="Times New Roman"/>
                <a:cs typeface="Times New Roman"/>
              </a:rPr>
              <a:t>admin-</a:t>
            </a:r>
            <a:r>
              <a:rPr dirty="0" sz="2200" spc="-10">
                <a:latin typeface="Times New Roman"/>
                <a:cs typeface="Times New Roman"/>
              </a:rPr>
              <a:t>level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5"/>
              </a:spcBef>
            </a:pPr>
            <a:r>
              <a:rPr dirty="0" sz="2200">
                <a:latin typeface="Times New Roman"/>
                <a:cs typeface="Times New Roman"/>
              </a:rPr>
              <a:t>monitoring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login/logout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activities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feedback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To  enhance</a:t>
            </a:r>
            <a:r>
              <a:rPr dirty="0" sz="2200" spc="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human–AI</a:t>
            </a:r>
            <a:r>
              <a:rPr dirty="0" sz="2200" spc="5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interaction  through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proactive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task  suggestions,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multi-model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response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chaining,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">
                <a:latin typeface="Times New Roman"/>
                <a:cs typeface="Times New Roman"/>
              </a:rPr>
              <a:t> clarification-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-10">
                <a:latin typeface="Times New Roman"/>
                <a:cs typeface="Times New Roman"/>
              </a:rPr>
              <a:t> handling.</a:t>
            </a:r>
            <a:endParaRPr sz="22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deliver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15">
                <a:latin typeface="Times New Roman"/>
                <a:cs typeface="Times New Roman"/>
              </a:rPr>
              <a:t>user-</a:t>
            </a:r>
            <a:r>
              <a:rPr dirty="0" sz="2200">
                <a:latin typeface="Times New Roman"/>
                <a:cs typeface="Times New Roman"/>
              </a:rPr>
              <a:t>friendly,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multilingual,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responsive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 interface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ensuring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seamless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communication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improved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experience.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0361" y="444449"/>
            <a:ext cx="259715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OBJECTIVES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1796" y="545856"/>
            <a:ext cx="11052175" cy="612140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316230" algn="l"/>
              </a:tabLst>
            </a:pP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Components:</a:t>
            </a:r>
            <a:endParaRPr sz="2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Frontend: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HTML,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70">
                <a:latin typeface="Times New Roman"/>
                <a:cs typeface="Times New Roman"/>
              </a:rPr>
              <a:t>TailWindCSS,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JavaScript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Responsive</a:t>
            </a:r>
            <a:r>
              <a:rPr dirty="0" sz="2200" spc="-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UI/UX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design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web.</a:t>
            </a:r>
            <a:endParaRPr sz="2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Backend/Database: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Web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browser’s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built-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localStorage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session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Storage.</a:t>
            </a:r>
            <a:endParaRPr sz="2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1325"/>
              </a:spcBef>
            </a:pPr>
            <a:r>
              <a:rPr dirty="0" sz="2200" b="1">
                <a:latin typeface="Times New Roman"/>
                <a:cs typeface="Times New Roman"/>
              </a:rPr>
              <a:t>AI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Engine: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Primary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Engine: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Google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Gemini API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(specifically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gemini-</a:t>
            </a:r>
            <a:r>
              <a:rPr dirty="0" sz="2200" spc="-20">
                <a:latin typeface="Times New Roman"/>
                <a:cs typeface="Times New Roman"/>
              </a:rPr>
              <a:t>2.5-</a:t>
            </a:r>
            <a:r>
              <a:rPr dirty="0" sz="2200" spc="-10">
                <a:latin typeface="Times New Roman"/>
                <a:cs typeface="Times New Roman"/>
              </a:rPr>
              <a:t>flash-preview-05-</a:t>
            </a:r>
            <a:r>
              <a:rPr dirty="0" sz="2200" spc="-25">
                <a:latin typeface="Times New Roman"/>
                <a:cs typeface="Times New Roman"/>
              </a:rPr>
              <a:t>20)</a:t>
            </a:r>
            <a:endParaRPr sz="2200">
              <a:latin typeface="Times New Roman"/>
              <a:cs typeface="Times New Roman"/>
            </a:endParaRPr>
          </a:p>
          <a:p>
            <a:pPr marL="597535">
              <a:lnSpc>
                <a:spcPct val="100000"/>
              </a:lnSpc>
              <a:spcBef>
                <a:spcPts val="1320"/>
              </a:spcBef>
            </a:pPr>
            <a:r>
              <a:rPr dirty="0" sz="2200">
                <a:latin typeface="Times New Roman"/>
                <a:cs typeface="Times New Roman"/>
              </a:rPr>
              <a:t>Secondary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Engine: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Tesseract.js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AI/ML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200">
              <a:latin typeface="Times New Roman"/>
              <a:cs typeface="Times New Roman"/>
            </a:endParaRPr>
          </a:p>
          <a:p>
            <a:pPr marL="222885" indent="-222250">
              <a:lnSpc>
                <a:spcPct val="100000"/>
              </a:lnSpc>
              <a:buAutoNum type="arabicPeriod" startAt="2"/>
              <a:tabLst>
                <a:tab pos="22288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Workflow</a:t>
            </a:r>
            <a:r>
              <a:rPr dirty="0" sz="2400" spc="-1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219710" marR="359410" indent="17780">
              <a:lnSpc>
                <a:spcPct val="151900"/>
              </a:lnSpc>
              <a:spcBef>
                <a:spcPts val="270"/>
              </a:spcBef>
            </a:pP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Input</a:t>
            </a:r>
            <a:r>
              <a:rPr dirty="0" sz="2200" spc="-50">
                <a:latin typeface="Times New Roman"/>
                <a:cs typeface="Times New Roman"/>
              </a:rPr>
              <a:t> (Text/Voice/Image)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Intent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Detection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Module</a:t>
            </a:r>
            <a:r>
              <a:rPr dirty="0" sz="2200" spc="-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Selection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(Sentiment Analyzer</a:t>
            </a:r>
            <a:r>
              <a:rPr dirty="0" sz="2200" spc="-1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/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Times New Roman"/>
                <a:cs typeface="Times New Roman"/>
              </a:rPr>
              <a:t>Q&amp;A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/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Summarizer)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1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Response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Generation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Display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Response</a:t>
            </a:r>
            <a:r>
              <a:rPr dirty="0" sz="2200" spc="-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Feedback Submission</a:t>
            </a:r>
            <a:r>
              <a:rPr dirty="0" sz="2200" spc="-2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Admin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Monitoring</a:t>
            </a:r>
            <a:r>
              <a:rPr dirty="0" sz="2200" spc="-1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(Login/Logout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Feedback)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→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History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1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Analytics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200">
              <a:latin typeface="Times New Roman"/>
              <a:cs typeface="Times New Roman"/>
            </a:endParaRPr>
          </a:p>
          <a:p>
            <a:pPr marL="311150" indent="-298450">
              <a:lnSpc>
                <a:spcPct val="100000"/>
              </a:lnSpc>
              <a:buAutoNum type="arabicPeriod" startAt="3"/>
              <a:tabLst>
                <a:tab pos="311150" algn="l"/>
              </a:tabLst>
            </a:pPr>
            <a:r>
              <a:rPr dirty="0" sz="2200" spc="-25" b="1">
                <a:latin typeface="Times New Roman"/>
                <a:cs typeface="Times New Roman"/>
              </a:rPr>
              <a:t>Tools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&amp;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Libraries:</a:t>
            </a:r>
            <a:endParaRPr sz="2200">
              <a:latin typeface="Times New Roman"/>
              <a:cs typeface="Times New Roman"/>
            </a:endParaRPr>
          </a:p>
          <a:p>
            <a:pPr marL="311150">
              <a:lnSpc>
                <a:spcPct val="100000"/>
              </a:lnSpc>
              <a:spcBef>
                <a:spcPts val="1320"/>
              </a:spcBef>
            </a:pPr>
            <a:r>
              <a:rPr dirty="0" sz="2200" spc="-30">
                <a:latin typeface="Times New Roman"/>
                <a:cs typeface="Times New Roman"/>
              </a:rPr>
              <a:t>Web</a:t>
            </a:r>
            <a:r>
              <a:rPr dirty="0" sz="2200" spc="-229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Speech</a:t>
            </a:r>
            <a:r>
              <a:rPr dirty="0" sz="2200" spc="-1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API,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Visual</a:t>
            </a:r>
            <a:r>
              <a:rPr dirty="0" sz="2200" spc="-1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Query</a:t>
            </a:r>
            <a:r>
              <a:rPr dirty="0" sz="2200" spc="-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tools,</a:t>
            </a:r>
            <a:r>
              <a:rPr dirty="0" sz="2200" spc="-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JavaScript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libraries</a:t>
            </a:r>
            <a:r>
              <a:rPr dirty="0" sz="2200" spc="-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UI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interactivity.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5533" y="139395"/>
            <a:ext cx="2300605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Methodology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none" sz="3200"/>
              <a:t>FLOW</a:t>
            </a:r>
            <a:r>
              <a:rPr dirty="0" u="none" sz="3200" spc="-65"/>
              <a:t> </a:t>
            </a:r>
            <a:r>
              <a:rPr dirty="0" u="none" sz="3200" spc="-10"/>
              <a:t>DIAGRAM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4194428" y="2087956"/>
            <a:ext cx="89471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404040"/>
                </a:solidFill>
                <a:latin typeface="Arial MT"/>
                <a:cs typeface="Arial MT"/>
              </a:rPr>
              <a:t>Intent</a:t>
            </a:r>
            <a:r>
              <a:rPr dirty="0" sz="1000" spc="-25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04040"/>
                </a:solidFill>
                <a:latin typeface="Arial MT"/>
                <a:cs typeface="Arial MT"/>
              </a:rPr>
              <a:t>detection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6666" y="1382090"/>
            <a:ext cx="10822940" cy="512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0515" algn="l"/>
              </a:tabLst>
            </a:pPr>
            <a:r>
              <a:rPr dirty="0" sz="2400" spc="-85">
                <a:latin typeface="Times New Roman"/>
                <a:cs typeface="Times New Roman"/>
              </a:rPr>
              <a:t>Web-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UI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interactive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chatbot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text,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voice,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visual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other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document</a:t>
            </a:r>
            <a:endParaRPr sz="2400">
              <a:latin typeface="Times New Roman"/>
              <a:cs typeface="Times New Roman"/>
            </a:endParaRPr>
          </a:p>
          <a:p>
            <a:pPr marL="31115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Times New Roman"/>
                <a:cs typeface="Times New Roman"/>
              </a:rPr>
              <a:t>support.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395"/>
              </a:spcBef>
              <a:buAutoNum type="arabicPeriod" startAt="2"/>
              <a:tabLst>
                <a:tab pos="317500" algn="l"/>
              </a:tabLst>
            </a:pPr>
            <a:r>
              <a:rPr dirty="0" sz="2400" spc="-10">
                <a:latin typeface="Times New Roman"/>
                <a:cs typeface="Times New Roman"/>
              </a:rPr>
              <a:t>Modular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integration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30">
                <a:latin typeface="Times New Roman"/>
                <a:cs typeface="Times New Roman"/>
              </a:rPr>
              <a:t>Sentiment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Analyzer,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Q/A</a:t>
            </a:r>
            <a:r>
              <a:rPr dirty="0" sz="2400" spc="-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Model,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Summarizer.</a:t>
            </a:r>
            <a:endParaRPr sz="2400">
              <a:latin typeface="Times New Roman"/>
              <a:cs typeface="Times New Roman"/>
            </a:endParaRPr>
          </a:p>
          <a:p>
            <a:pPr marL="316230" indent="-303530">
              <a:lnSpc>
                <a:spcPct val="100000"/>
              </a:lnSpc>
              <a:spcBef>
                <a:spcPts val="1390"/>
              </a:spcBef>
              <a:buAutoNum type="arabicPeriod" startAt="2"/>
              <a:tabLst>
                <a:tab pos="316230" algn="l"/>
              </a:tabLst>
            </a:pPr>
            <a:r>
              <a:rPr dirty="0" sz="2400" spc="-35">
                <a:latin typeface="Times New Roman"/>
                <a:cs typeface="Times New Roman"/>
              </a:rPr>
              <a:t>Real-</a:t>
            </a:r>
            <a:r>
              <a:rPr dirty="0" sz="2400" spc="-25">
                <a:latin typeface="Times New Roman"/>
                <a:cs typeface="Times New Roman"/>
              </a:rPr>
              <a:t>time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responses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queries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across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modules.</a:t>
            </a:r>
            <a:endParaRPr sz="2400">
              <a:latin typeface="Times New Roman"/>
              <a:cs typeface="Times New Roman"/>
            </a:endParaRPr>
          </a:p>
          <a:p>
            <a:pPr marL="316230" indent="-303530">
              <a:lnSpc>
                <a:spcPct val="100000"/>
              </a:lnSpc>
              <a:spcBef>
                <a:spcPts val="1420"/>
              </a:spcBef>
              <a:buAutoNum type="arabicPeriod" startAt="2"/>
              <a:tabLst>
                <a:tab pos="316230" algn="l"/>
              </a:tabLst>
            </a:pPr>
            <a:r>
              <a:rPr dirty="0" sz="2400">
                <a:latin typeface="Times New Roman"/>
                <a:cs typeface="Times New Roman"/>
              </a:rPr>
              <a:t>Persistent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chat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history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multilingual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support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implemented.</a:t>
            </a:r>
            <a:endParaRPr sz="2400">
              <a:latin typeface="Times New Roman"/>
              <a:cs typeface="Times New Roman"/>
            </a:endParaRPr>
          </a:p>
          <a:p>
            <a:pPr marL="12700" marR="6985" indent="371475">
              <a:lnSpc>
                <a:spcPts val="4300"/>
              </a:lnSpc>
              <a:spcBef>
                <a:spcPts val="160"/>
              </a:spcBef>
              <a:buAutoNum type="arabicPeriod" startAt="2"/>
              <a:tabLst>
                <a:tab pos="384175" algn="l"/>
                <a:tab pos="1372235" algn="l"/>
                <a:tab pos="2140585" algn="l"/>
                <a:tab pos="2926715" algn="l"/>
                <a:tab pos="4067175" algn="l"/>
                <a:tab pos="4933315" algn="l"/>
                <a:tab pos="5701030" algn="l"/>
                <a:tab pos="7399655" algn="l"/>
                <a:tab pos="8219440" algn="l"/>
                <a:tab pos="9713595" algn="l"/>
                <a:tab pos="10243820" algn="l"/>
              </a:tabLst>
            </a:pPr>
            <a:r>
              <a:rPr dirty="0" sz="2400" spc="-10">
                <a:latin typeface="Times New Roman"/>
                <a:cs typeface="Times New Roman"/>
              </a:rPr>
              <a:t>Admin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login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setup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initiated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(basic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login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functionality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done;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monitoring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not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30">
                <a:latin typeface="Times New Roman"/>
                <a:cs typeface="Times New Roman"/>
              </a:rPr>
              <a:t>fully </a:t>
            </a:r>
            <a:r>
              <a:rPr dirty="0" sz="2400" spc="-10">
                <a:latin typeface="Times New Roman"/>
                <a:cs typeface="Times New Roman"/>
              </a:rPr>
              <a:t>implemented).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800" spc="-10" b="1">
                <a:latin typeface="Times New Roman"/>
                <a:cs typeface="Times New Roman"/>
              </a:rPr>
              <a:t>Outcome</a:t>
            </a:r>
            <a:r>
              <a:rPr dirty="0" sz="2600" spc="-10" b="1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400" spc="-25">
                <a:latin typeface="Times New Roman"/>
                <a:cs typeface="Times New Roman"/>
              </a:rPr>
              <a:t>A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working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prototype demonstrating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context-</a:t>
            </a:r>
            <a:r>
              <a:rPr dirty="0" sz="2400">
                <a:latin typeface="Times New Roman"/>
                <a:cs typeface="Times New Roman"/>
              </a:rPr>
              <a:t>aware,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multimodal,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modular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AI-</a:t>
            </a:r>
            <a:r>
              <a:rPr dirty="0" sz="2400" spc="-10">
                <a:latin typeface="Times New Roman"/>
                <a:cs typeface="Times New Roman"/>
              </a:rPr>
              <a:t>driven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>
                <a:latin typeface="Times New Roman"/>
                <a:cs typeface="Times New Roman"/>
              </a:rPr>
              <a:t>conversational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capabilities.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9059" rIns="0" bIns="0" rtlCol="0" vert="horz">
            <a:spAutoFit/>
          </a:bodyPr>
          <a:lstStyle/>
          <a:p>
            <a:pPr marL="3439160">
              <a:lnSpc>
                <a:spcPct val="100000"/>
              </a:lnSpc>
              <a:spcBef>
                <a:spcPts val="95"/>
              </a:spcBef>
            </a:pPr>
            <a:r>
              <a:rPr dirty="0" u="none" sz="3200"/>
              <a:t>WORK</a:t>
            </a:r>
            <a:r>
              <a:rPr dirty="0" u="none" sz="3200" spc="-114"/>
              <a:t> </a:t>
            </a:r>
            <a:r>
              <a:rPr dirty="0" u="none" sz="3200"/>
              <a:t>DONE</a:t>
            </a:r>
            <a:r>
              <a:rPr dirty="0" u="none" sz="3200" spc="-105"/>
              <a:t> </a:t>
            </a:r>
            <a:r>
              <a:rPr dirty="0" u="none" sz="3200"/>
              <a:t>SO</a:t>
            </a:r>
            <a:r>
              <a:rPr dirty="0" u="none" sz="3200" spc="-110"/>
              <a:t> </a:t>
            </a:r>
            <a:r>
              <a:rPr dirty="0" u="none" sz="3200" spc="-25"/>
              <a:t>FAR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1620" indent="-231140">
              <a:lnSpc>
                <a:spcPct val="100000"/>
              </a:lnSpc>
              <a:spcBef>
                <a:spcPts val="105"/>
              </a:spcBef>
              <a:buSzPct val="95454"/>
              <a:buAutoNum type="arabicPeriod"/>
              <a:tabLst>
                <a:tab pos="262255" algn="l"/>
              </a:tabLst>
            </a:pPr>
            <a:r>
              <a:rPr dirty="0"/>
              <a:t>Enhancement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admin</a:t>
            </a:r>
            <a:r>
              <a:rPr dirty="0" spc="-10"/>
              <a:t> </a:t>
            </a:r>
            <a:r>
              <a:rPr dirty="0"/>
              <a:t>dashboard</a:t>
            </a:r>
            <a:r>
              <a:rPr dirty="0" spc="-65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/>
              <a:t>some</a:t>
            </a:r>
            <a:r>
              <a:rPr dirty="0" spc="-10"/>
              <a:t> </a:t>
            </a:r>
            <a:r>
              <a:rPr dirty="0"/>
              <a:t>more</a:t>
            </a:r>
            <a:r>
              <a:rPr dirty="0" spc="-10"/>
              <a:t> features.</a:t>
            </a:r>
          </a:p>
          <a:p>
            <a:pPr marL="261620" marR="5080" indent="-231775">
              <a:lnSpc>
                <a:spcPct val="200100"/>
              </a:lnSpc>
              <a:spcBef>
                <a:spcPts val="95"/>
              </a:spcBef>
              <a:buSzPct val="95454"/>
              <a:buAutoNum type="arabicPeriod"/>
              <a:tabLst>
                <a:tab pos="262255" algn="l"/>
              </a:tabLst>
            </a:pPr>
            <a:r>
              <a:rPr dirty="0"/>
              <a:t>Currently,</a:t>
            </a:r>
            <a:r>
              <a:rPr dirty="0" spc="135"/>
              <a:t> </a:t>
            </a:r>
            <a:r>
              <a:rPr dirty="0"/>
              <a:t>our</a:t>
            </a:r>
            <a:r>
              <a:rPr dirty="0" spc="135"/>
              <a:t> </a:t>
            </a:r>
            <a:r>
              <a:rPr dirty="0"/>
              <a:t>project</a:t>
            </a:r>
            <a:r>
              <a:rPr dirty="0" spc="145"/>
              <a:t> </a:t>
            </a:r>
            <a:r>
              <a:rPr dirty="0"/>
              <a:t>uses</a:t>
            </a:r>
            <a:r>
              <a:rPr dirty="0" spc="105"/>
              <a:t> </a:t>
            </a:r>
            <a:r>
              <a:rPr dirty="0"/>
              <a:t>local</a:t>
            </a:r>
            <a:r>
              <a:rPr dirty="0" spc="140"/>
              <a:t> </a:t>
            </a:r>
            <a:r>
              <a:rPr dirty="0"/>
              <a:t>storage,</a:t>
            </a:r>
            <a:r>
              <a:rPr dirty="0" spc="130"/>
              <a:t> </a:t>
            </a:r>
            <a:r>
              <a:rPr dirty="0"/>
              <a:t>so</a:t>
            </a:r>
            <a:r>
              <a:rPr dirty="0" spc="130"/>
              <a:t> </a:t>
            </a:r>
            <a:r>
              <a:rPr dirty="0"/>
              <a:t>we</a:t>
            </a:r>
            <a:r>
              <a:rPr dirty="0" spc="130"/>
              <a:t> </a:t>
            </a:r>
            <a:r>
              <a:rPr dirty="0"/>
              <a:t>need</a:t>
            </a:r>
            <a:r>
              <a:rPr dirty="0" spc="110"/>
              <a:t> </a:t>
            </a:r>
            <a:r>
              <a:rPr dirty="0"/>
              <a:t>to</a:t>
            </a:r>
            <a:r>
              <a:rPr dirty="0" spc="125"/>
              <a:t> </a:t>
            </a:r>
            <a:r>
              <a:rPr dirty="0"/>
              <a:t>implement</a:t>
            </a:r>
            <a:r>
              <a:rPr dirty="0" spc="145"/>
              <a:t> </a:t>
            </a:r>
            <a:r>
              <a:rPr dirty="0"/>
              <a:t>a</a:t>
            </a:r>
            <a:r>
              <a:rPr dirty="0" spc="135"/>
              <a:t> </a:t>
            </a:r>
            <a:r>
              <a:rPr dirty="0" spc="-10"/>
              <a:t>backend </a:t>
            </a:r>
            <a:r>
              <a:rPr dirty="0"/>
              <a:t>(e.g.,</a:t>
            </a:r>
            <a:r>
              <a:rPr dirty="0" spc="-25"/>
              <a:t> </a:t>
            </a:r>
            <a:r>
              <a:rPr dirty="0"/>
              <a:t>XAMPP)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make</a:t>
            </a:r>
            <a:r>
              <a:rPr dirty="0" spc="40"/>
              <a:t> </a:t>
            </a:r>
            <a:r>
              <a:rPr dirty="0"/>
              <a:t>it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30"/>
              <a:t> </a:t>
            </a:r>
            <a:r>
              <a:rPr dirty="0" spc="-10"/>
              <a:t>globally.</a:t>
            </a:r>
          </a:p>
          <a:p>
            <a:pPr marL="17780">
              <a:lnSpc>
                <a:spcPct val="100000"/>
              </a:lnSpc>
              <a:spcBef>
                <a:spcPts val="210"/>
              </a:spcBef>
              <a:buFont typeface="Times New Roman"/>
              <a:buAutoNum type="arabicPeriod"/>
            </a:pPr>
          </a:p>
          <a:p>
            <a:pPr marL="261620" indent="-231140">
              <a:lnSpc>
                <a:spcPct val="100000"/>
              </a:lnSpc>
              <a:buSzPct val="95454"/>
              <a:buAutoNum type="arabicPeriod"/>
              <a:tabLst>
                <a:tab pos="262255" algn="l"/>
              </a:tabLst>
            </a:pPr>
            <a:r>
              <a:rPr dirty="0"/>
              <a:t>Implement</a:t>
            </a:r>
            <a:r>
              <a:rPr dirty="0" spc="-40"/>
              <a:t> </a:t>
            </a:r>
            <a:r>
              <a:rPr dirty="0" spc="-10"/>
              <a:t>proactive</a:t>
            </a:r>
            <a:r>
              <a:rPr dirty="0" spc="-155"/>
              <a:t> </a:t>
            </a:r>
            <a:r>
              <a:rPr dirty="0" spc="-10"/>
              <a:t>suggestions</a:t>
            </a:r>
            <a:r>
              <a:rPr dirty="0" spc="-114"/>
              <a:t> </a:t>
            </a:r>
            <a:r>
              <a:rPr dirty="0"/>
              <a:t>for</a:t>
            </a:r>
            <a:r>
              <a:rPr dirty="0" spc="-140"/>
              <a:t> </a:t>
            </a:r>
            <a:r>
              <a:rPr dirty="0"/>
              <a:t>user</a:t>
            </a:r>
            <a:r>
              <a:rPr dirty="0" spc="-95"/>
              <a:t> </a:t>
            </a:r>
            <a:r>
              <a:rPr dirty="0" spc="-10"/>
              <a:t>queries.</a:t>
            </a:r>
          </a:p>
          <a:p>
            <a:pPr marL="1778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</a:pPr>
          </a:p>
          <a:p>
            <a:pPr marL="261620" indent="-231140">
              <a:lnSpc>
                <a:spcPct val="100000"/>
              </a:lnSpc>
              <a:spcBef>
                <a:spcPts val="5"/>
              </a:spcBef>
              <a:buSzPct val="95454"/>
              <a:buAutoNum type="arabicPeriod"/>
              <a:tabLst>
                <a:tab pos="262255" algn="l"/>
              </a:tabLst>
            </a:pPr>
            <a:r>
              <a:rPr dirty="0" spc="-10"/>
              <a:t>Integrate</a:t>
            </a:r>
            <a:r>
              <a:rPr dirty="0" spc="-110"/>
              <a:t> </a:t>
            </a:r>
            <a:r>
              <a:rPr dirty="0" spc="-45"/>
              <a:t>multi-</a:t>
            </a:r>
            <a:r>
              <a:rPr dirty="0"/>
              <a:t>model</a:t>
            </a:r>
            <a:r>
              <a:rPr dirty="0" spc="-10"/>
              <a:t> </a:t>
            </a:r>
            <a:r>
              <a:rPr dirty="0"/>
              <a:t>response</a:t>
            </a:r>
            <a:r>
              <a:rPr dirty="0" spc="-90"/>
              <a:t> </a:t>
            </a:r>
            <a:r>
              <a:rPr dirty="0"/>
              <a:t>chaining</a:t>
            </a:r>
            <a:r>
              <a:rPr dirty="0" spc="-13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/>
              <a:t>complex</a:t>
            </a:r>
            <a:r>
              <a:rPr dirty="0" spc="-40"/>
              <a:t> </a:t>
            </a:r>
            <a:r>
              <a:rPr dirty="0" spc="-10"/>
              <a:t>tasks.</a:t>
            </a:r>
          </a:p>
          <a:p>
            <a:pPr marL="1778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/>
            </a:pPr>
          </a:p>
          <a:p>
            <a:pPr marL="261620" indent="-231140">
              <a:lnSpc>
                <a:spcPct val="100000"/>
              </a:lnSpc>
              <a:buSzPct val="95454"/>
              <a:buAutoNum type="arabicPeriod"/>
              <a:tabLst>
                <a:tab pos="262255" algn="l"/>
              </a:tabLst>
            </a:pPr>
            <a:r>
              <a:rPr dirty="0" spc="-10"/>
              <a:t>Optimize</a:t>
            </a:r>
            <a:r>
              <a:rPr dirty="0" spc="-105"/>
              <a:t> </a:t>
            </a:r>
            <a:r>
              <a:rPr dirty="0"/>
              <a:t>UI/UX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smoother</a:t>
            </a:r>
            <a:r>
              <a:rPr dirty="0" spc="-70"/>
              <a:t> </a:t>
            </a:r>
            <a:r>
              <a:rPr dirty="0" spc="-10"/>
              <a:t>real-time</a:t>
            </a:r>
            <a:r>
              <a:rPr dirty="0" spc="-120"/>
              <a:t> </a:t>
            </a:r>
            <a:r>
              <a:rPr dirty="0"/>
              <a:t>interactions</a:t>
            </a:r>
            <a:r>
              <a:rPr dirty="0" spc="-17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responsiveness.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380" y="749249"/>
            <a:ext cx="5392420" cy="5124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3200"/>
              <a:t>WORK</a:t>
            </a:r>
            <a:r>
              <a:rPr dirty="0" u="none" sz="3200" spc="-95"/>
              <a:t> </a:t>
            </a:r>
            <a:r>
              <a:rPr dirty="0" u="none" sz="3200"/>
              <a:t>TO</a:t>
            </a:r>
            <a:r>
              <a:rPr dirty="0" u="none" sz="3200" spc="-90"/>
              <a:t> </a:t>
            </a:r>
            <a:r>
              <a:rPr dirty="0" u="none" sz="3200"/>
              <a:t>BE</a:t>
            </a:r>
            <a:r>
              <a:rPr dirty="0" u="none" sz="3200" spc="-100"/>
              <a:t> </a:t>
            </a:r>
            <a:r>
              <a:rPr dirty="0" u="none" sz="3200" spc="-10"/>
              <a:t>COMPLETED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9059" rIns="0" bIns="0" rtlCol="0" vert="horz">
            <a:spAutoFit/>
          </a:bodyPr>
          <a:lstStyle/>
          <a:p>
            <a:pPr marL="4125595">
              <a:lnSpc>
                <a:spcPct val="100000"/>
              </a:lnSpc>
              <a:spcBef>
                <a:spcPts val="95"/>
              </a:spcBef>
            </a:pPr>
            <a:r>
              <a:rPr dirty="0" u="none" sz="3200" spc="-10"/>
              <a:t>CONCLUSION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1441450" y="1260909"/>
            <a:ext cx="8992235" cy="3547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90"/>
              </a:spcBef>
            </a:pPr>
            <a:r>
              <a:rPr dirty="0" sz="2200">
                <a:latin typeface="Times New Roman"/>
                <a:cs typeface="Times New Roman"/>
              </a:rPr>
              <a:t>Saathi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1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demonstrates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secure,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 spc="-20">
                <a:latin typeface="Times New Roman"/>
                <a:cs typeface="Times New Roman"/>
              </a:rPr>
              <a:t>full-</a:t>
            </a:r>
            <a:r>
              <a:rPr dirty="0" sz="2200">
                <a:latin typeface="Times New Roman"/>
                <a:cs typeface="Times New Roman"/>
              </a:rPr>
              <a:t>stack,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intelligent</a:t>
            </a:r>
            <a:r>
              <a:rPr dirty="0" sz="2200" spc="3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chatbot</a:t>
            </a:r>
            <a:r>
              <a:rPr dirty="0" sz="2200" spc="1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system </a:t>
            </a:r>
            <a:r>
              <a:rPr dirty="0" sz="2200">
                <a:latin typeface="Times New Roman"/>
                <a:cs typeface="Times New Roman"/>
              </a:rPr>
              <a:t>capable</a:t>
            </a:r>
            <a:r>
              <a:rPr dirty="0" sz="2200" spc="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context-</a:t>
            </a:r>
            <a:r>
              <a:rPr dirty="0" sz="2200">
                <a:latin typeface="Times New Roman"/>
                <a:cs typeface="Times New Roman"/>
              </a:rPr>
              <a:t>aware,</a:t>
            </a:r>
            <a:r>
              <a:rPr dirty="0" sz="2200" spc="114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multimodal,</a:t>
            </a:r>
            <a:r>
              <a:rPr dirty="0" sz="2200" spc="1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modular</a:t>
            </a:r>
            <a:r>
              <a:rPr dirty="0" sz="2200" spc="130">
                <a:latin typeface="Times New Roman"/>
                <a:cs typeface="Times New Roman"/>
              </a:rPr>
              <a:t>  </a:t>
            </a:r>
            <a:r>
              <a:rPr dirty="0" sz="2200" spc="-3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driven</a:t>
            </a:r>
            <a:r>
              <a:rPr dirty="0" sz="2200" spc="14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interactions.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300">
                <a:latin typeface="Times New Roman"/>
                <a:cs typeface="Times New Roman"/>
              </a:rPr>
              <a:t>   </a:t>
            </a:r>
            <a:r>
              <a:rPr dirty="0" sz="2200">
                <a:latin typeface="Times New Roman"/>
                <a:cs typeface="Times New Roman"/>
              </a:rPr>
              <a:t>platform</a:t>
            </a:r>
            <a:r>
              <a:rPr dirty="0" sz="2200" spc="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effectively</a:t>
            </a:r>
            <a:r>
              <a:rPr dirty="0" sz="2200" spc="300">
                <a:latin typeface="Times New Roman"/>
                <a:cs typeface="Times New Roman"/>
              </a:rPr>
              <a:t>   </a:t>
            </a:r>
            <a:r>
              <a:rPr dirty="0" sz="2200">
                <a:latin typeface="Times New Roman"/>
                <a:cs typeface="Times New Roman"/>
              </a:rPr>
              <a:t>integrates</a:t>
            </a:r>
            <a:r>
              <a:rPr dirty="0" sz="2200" spc="305">
                <a:latin typeface="Times New Roman"/>
                <a:cs typeface="Times New Roman"/>
              </a:rPr>
              <a:t>   </a:t>
            </a:r>
            <a:r>
              <a:rPr dirty="0" sz="2200">
                <a:latin typeface="Times New Roman"/>
                <a:cs typeface="Times New Roman"/>
              </a:rPr>
              <a:t>Sentiment</a:t>
            </a:r>
            <a:r>
              <a:rPr dirty="0" sz="2200" spc="305">
                <a:latin typeface="Times New Roman"/>
                <a:cs typeface="Times New Roman"/>
              </a:rPr>
              <a:t>   </a:t>
            </a:r>
            <a:r>
              <a:rPr dirty="0" sz="2200">
                <a:latin typeface="Times New Roman"/>
                <a:cs typeface="Times New Roman"/>
              </a:rPr>
              <a:t>Analysis,</a:t>
            </a:r>
            <a:r>
              <a:rPr dirty="0" sz="2200" spc="305">
                <a:latin typeface="Times New Roman"/>
                <a:cs typeface="Times New Roman"/>
              </a:rPr>
              <a:t>   </a:t>
            </a:r>
            <a:r>
              <a:rPr dirty="0" sz="2200">
                <a:latin typeface="Times New Roman"/>
                <a:cs typeface="Times New Roman"/>
              </a:rPr>
              <a:t>Q/A,</a:t>
            </a:r>
            <a:r>
              <a:rPr dirty="0" sz="2200" spc="300">
                <a:latin typeface="Times New Roman"/>
                <a:cs typeface="Times New Roman"/>
              </a:rPr>
              <a:t>  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>
                <a:latin typeface="Times New Roman"/>
                <a:cs typeface="Times New Roman"/>
              </a:rPr>
              <a:t>Summarization</a:t>
            </a:r>
            <a:r>
              <a:rPr dirty="0" sz="2200" spc="29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28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provide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</a:t>
            </a:r>
            <a:r>
              <a:rPr dirty="0" sz="2200" spc="3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dynamic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responses.</a:t>
            </a:r>
            <a:r>
              <a:rPr dirty="0" sz="2200" spc="2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While </a:t>
            </a:r>
            <a:r>
              <a:rPr dirty="0" sz="2200">
                <a:latin typeface="Times New Roman"/>
                <a:cs typeface="Times New Roman"/>
              </a:rPr>
              <a:t>security</a:t>
            </a:r>
            <a:r>
              <a:rPr dirty="0" sz="2200" spc="17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18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admin</a:t>
            </a:r>
            <a:r>
              <a:rPr dirty="0" sz="2200" spc="18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monitoring</a:t>
            </a:r>
            <a:r>
              <a:rPr dirty="0" sz="2200" spc="17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18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partially</a:t>
            </a:r>
            <a:r>
              <a:rPr dirty="0" sz="2200" spc="16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implemented,</a:t>
            </a:r>
            <a:r>
              <a:rPr dirty="0" sz="2200" spc="1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8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prototype </a:t>
            </a:r>
            <a:r>
              <a:rPr dirty="0" sz="2200">
                <a:latin typeface="Times New Roman"/>
                <a:cs typeface="Times New Roman"/>
              </a:rPr>
              <a:t>showcases</a:t>
            </a:r>
            <a:r>
              <a:rPr dirty="0" sz="2200" spc="48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real-</a:t>
            </a:r>
            <a:r>
              <a:rPr dirty="0" sz="2200">
                <a:latin typeface="Times New Roman"/>
                <a:cs typeface="Times New Roman"/>
              </a:rPr>
              <a:t>time</a:t>
            </a:r>
            <a:r>
              <a:rPr dirty="0" sz="2200" spc="5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conversations,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multilingual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support,</a:t>
            </a:r>
            <a:r>
              <a:rPr dirty="0" sz="2200" spc="4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persistent</a:t>
            </a:r>
            <a:r>
              <a:rPr dirty="0" sz="2200" spc="484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chat </a:t>
            </a:r>
            <a:r>
              <a:rPr dirty="0" sz="2200">
                <a:latin typeface="Times New Roman"/>
                <a:cs typeface="Times New Roman"/>
              </a:rPr>
              <a:t>history.</a:t>
            </a:r>
            <a:r>
              <a:rPr dirty="0" sz="2200" spc="1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Future</a:t>
            </a:r>
            <a:r>
              <a:rPr dirty="0" sz="2200" spc="1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enhancements,</a:t>
            </a:r>
            <a:r>
              <a:rPr dirty="0" sz="2200" spc="1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including</a:t>
            </a:r>
            <a:r>
              <a:rPr dirty="0" sz="2200" spc="1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complete</a:t>
            </a:r>
            <a:r>
              <a:rPr dirty="0" sz="2200" spc="17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admin</a:t>
            </a:r>
            <a:r>
              <a:rPr dirty="0" sz="2200" spc="18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oversight</a:t>
            </a:r>
            <a:r>
              <a:rPr dirty="0" sz="2200" spc="425">
                <a:latin typeface="Times New Roman"/>
                <a:cs typeface="Times New Roman"/>
              </a:rPr>
              <a:t>   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1450" y="4782058"/>
            <a:ext cx="1306830" cy="1032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  <a:tabLst>
                <a:tab pos="994410" algn="l"/>
              </a:tabLst>
            </a:pPr>
            <a:r>
              <a:rPr dirty="0" sz="2200" spc="-10">
                <a:latin typeface="Times New Roman"/>
                <a:cs typeface="Times New Roman"/>
              </a:rPr>
              <a:t>intelligent Saathi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AI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61614" y="4782058"/>
            <a:ext cx="7672705" cy="1032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015" marR="5080" indent="-234950">
              <a:lnSpc>
                <a:spcPct val="150100"/>
              </a:lnSpc>
              <a:spcBef>
                <a:spcPts val="95"/>
              </a:spcBef>
              <a:tabLst>
                <a:tab pos="652145" algn="l"/>
                <a:tab pos="1308100" algn="l"/>
                <a:tab pos="2448560" algn="l"/>
                <a:tab pos="2631440" algn="l"/>
                <a:tab pos="3063875" algn="l"/>
                <a:tab pos="3813810" algn="l"/>
                <a:tab pos="4009390" algn="l"/>
                <a:tab pos="4423410" algn="l"/>
                <a:tab pos="5356860" algn="l"/>
                <a:tab pos="5881370" algn="l"/>
                <a:tab pos="6460490" algn="l"/>
              </a:tabLst>
            </a:pPr>
            <a:r>
              <a:rPr dirty="0" sz="2200" spc="-10">
                <a:latin typeface="Times New Roman"/>
                <a:cs typeface="Times New Roman"/>
              </a:rPr>
              <a:t>assistance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features,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will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further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strengthen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	system,</a:t>
            </a:r>
            <a:r>
              <a:rPr dirty="0" sz="2200" spc="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making </a:t>
            </a:r>
            <a:r>
              <a:rPr dirty="0" sz="2200" spc="-50">
                <a:latin typeface="Times New Roman"/>
                <a:cs typeface="Times New Roman"/>
              </a:rPr>
              <a:t>a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comprehensive</a:t>
            </a:r>
            <a:r>
              <a:rPr dirty="0" sz="2200">
                <a:latin typeface="Times New Roman"/>
                <a:cs typeface="Times New Roman"/>
              </a:rPr>
              <a:t>		</a:t>
            </a:r>
            <a:r>
              <a:rPr dirty="0" sz="2200" spc="-10">
                <a:latin typeface="Times New Roman"/>
                <a:cs typeface="Times New Roman"/>
              </a:rPr>
              <a:t>solution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for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next-generation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human–AI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41450" y="5954674"/>
            <a:ext cx="183642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10">
                <a:latin typeface="Times New Roman"/>
                <a:cs typeface="Times New Roman"/>
              </a:rPr>
              <a:t>communication.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6051" y="1377772"/>
            <a:ext cx="10259060" cy="48240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73685" indent="-26098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273685" algn="l"/>
              </a:tabLst>
            </a:pPr>
            <a:r>
              <a:rPr dirty="0" sz="2200" spc="-25">
                <a:latin typeface="Times New Roman"/>
                <a:cs typeface="Times New Roman"/>
              </a:rPr>
              <a:t>Amjad</a:t>
            </a:r>
            <a:r>
              <a:rPr dirty="0" sz="2200" spc="-1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Almahairi.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(2023)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35">
                <a:latin typeface="Times New Roman"/>
                <a:cs typeface="Times New Roman"/>
              </a:rPr>
              <a:t>LEARNING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LLMS</a:t>
            </a:r>
            <a:r>
              <a:rPr dirty="0" sz="2200" spc="-16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WITH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30">
                <a:latin typeface="Times New Roman"/>
                <a:cs typeface="Times New Roman"/>
              </a:rPr>
              <a:t>PREFERENCE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00">
              <a:latin typeface="Times New Roman"/>
              <a:cs typeface="Times New Roman"/>
            </a:endParaRPr>
          </a:p>
          <a:p>
            <a:pPr marL="289560" indent="-276860">
              <a:lnSpc>
                <a:spcPct val="100000"/>
              </a:lnSpc>
              <a:buAutoNum type="arabicPeriod" startAt="2"/>
              <a:tabLst>
                <a:tab pos="289560" algn="l"/>
              </a:tabLst>
            </a:pPr>
            <a:r>
              <a:rPr dirty="0" sz="2200" spc="-10">
                <a:latin typeface="Times New Roman"/>
                <a:cs typeface="Times New Roman"/>
              </a:rPr>
              <a:t>Noam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Shazeer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(2022)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Scaling</a:t>
            </a:r>
            <a:r>
              <a:rPr dirty="0" sz="2200" spc="-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Trillion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Parameter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Models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Simple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Ecient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Sparsity.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00">
              <a:latin typeface="Times New Roman"/>
              <a:cs typeface="Times New Roman"/>
            </a:endParaRPr>
          </a:p>
          <a:p>
            <a:pPr marL="288925" indent="-276225">
              <a:lnSpc>
                <a:spcPct val="100000"/>
              </a:lnSpc>
              <a:buAutoNum type="arabicPeriod" startAt="3"/>
              <a:tabLst>
                <a:tab pos="288925" algn="l"/>
              </a:tabLst>
            </a:pPr>
            <a:r>
              <a:rPr dirty="0" sz="2200" spc="-10">
                <a:latin typeface="Times New Roman"/>
                <a:cs typeface="Times New Roman"/>
              </a:rPr>
              <a:t>Karthik</a:t>
            </a:r>
            <a:r>
              <a:rPr dirty="0" sz="2200" spc="-2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Narasimhan(2023)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SYNERGIZING</a:t>
            </a:r>
            <a:r>
              <a:rPr dirty="0" sz="2200" spc="65">
                <a:latin typeface="Times New Roman"/>
                <a:cs typeface="Times New Roman"/>
              </a:rPr>
              <a:t> </a:t>
            </a:r>
            <a:r>
              <a:rPr dirty="0" sz="2200" spc="-65">
                <a:latin typeface="Times New Roman"/>
                <a:cs typeface="Times New Roman"/>
              </a:rPr>
              <a:t>REASONING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35">
                <a:latin typeface="Times New Roman"/>
                <a:cs typeface="Times New Roman"/>
              </a:rPr>
              <a:t>AND</a:t>
            </a:r>
            <a:r>
              <a:rPr dirty="0" sz="2200" spc="-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ACTING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35">
                <a:latin typeface="Times New Roman"/>
                <a:cs typeface="Times New Roman"/>
              </a:rPr>
              <a:t>LANGUAGE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MODELS.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2871470" indent="270510">
              <a:lnSpc>
                <a:spcPct val="100000"/>
              </a:lnSpc>
              <a:buAutoNum type="arabicPeriod" startAt="4"/>
              <a:tabLst>
                <a:tab pos="283210" algn="l"/>
              </a:tabLst>
            </a:pPr>
            <a:r>
              <a:rPr dirty="0" sz="2200" spc="-55">
                <a:latin typeface="Times New Roman"/>
                <a:cs typeface="Times New Roman"/>
              </a:rPr>
              <a:t>Yongliang</a:t>
            </a:r>
            <a:r>
              <a:rPr dirty="0" sz="2200" spc="-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Shen(2023)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Solving</a:t>
            </a:r>
            <a:r>
              <a:rPr dirty="0" sz="2200" spc="-1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Tasks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ChatGPT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its </a:t>
            </a:r>
            <a:r>
              <a:rPr dirty="0" sz="2200">
                <a:latin typeface="Times New Roman"/>
                <a:cs typeface="Times New Roman"/>
              </a:rPr>
              <a:t>Friends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Hugging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Face.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Times New Roman"/>
              <a:buAutoNum type="arabicPeriod" startAt="4"/>
            </a:pPr>
            <a:endParaRPr sz="2200">
              <a:latin typeface="Times New Roman"/>
              <a:cs typeface="Times New Roman"/>
            </a:endParaRPr>
          </a:p>
          <a:p>
            <a:pPr marL="274320" indent="-261620">
              <a:lnSpc>
                <a:spcPct val="100000"/>
              </a:lnSpc>
              <a:buAutoNum type="arabicPeriod" startAt="4"/>
              <a:tabLst>
                <a:tab pos="274320" algn="l"/>
              </a:tabLst>
            </a:pPr>
            <a:r>
              <a:rPr dirty="0" sz="2200">
                <a:latin typeface="Times New Roman"/>
                <a:cs typeface="Times New Roman"/>
              </a:rPr>
              <a:t>Pearl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Bipin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Pulickal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(2024)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Dynamic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-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Switching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Centralized</a:t>
            </a:r>
            <a:r>
              <a:rPr dirty="0" sz="2200" spc="-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Decentralized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Chatbot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5158" rIns="0" bIns="0" rtlCol="0" vert="horz">
            <a:spAutoFit/>
          </a:bodyPr>
          <a:lstStyle/>
          <a:p>
            <a:pPr marL="445134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References: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2025-11-03T14:30:47Z</dcterms:created>
  <dcterms:modified xsi:type="dcterms:W3CDTF">2025-11-03T14:30:47Z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LastSaved">
    <vt:filetime>2025-11-03T00:00:00Z</vt:filetime>
  </property>
  <property fmtid="{D5CDD505-2E9C-101B-9397-08002B2CF9AE}" pid="4" name="Producer">
    <vt:lpwstr>iLovePDF</vt:lpwstr>
  </property>
</Properties>
</file>